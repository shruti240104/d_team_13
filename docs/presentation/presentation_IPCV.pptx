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73" r:id="rId24"/>
    <p:sldId id="274" r:id="rId25"/>
    <p:sldId id="261" r:id="rId9"/>
    <p:sldId id="270" r:id="rId10"/>
    <p:sldId id="262" r:id="rId11"/>
    <p:sldId id="271" r:id="rId12"/>
    <p:sldId id="263" r:id="rId13"/>
    <p:sldId id="272" r:id="rId14"/>
    <p:sldId id="264" r:id="rId15"/>
    <p:sldId id="265" r:id="rId16"/>
    <p:sldId id="266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8.xml"/><Relationship Id="rId2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Median CER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4A3B8"/>
              </a:solidFill>
            </c:spPr>
            <c:extLst>
              <c:ext xmlns:c16="http://schemas.microsoft.com/office/drawing/2014/chart" uri="{C3380CC4-5D6E-409C-BE32-E72D297353CC}">
                <c16:uniqueId val="{00000001-27ED-417A-A035-6629AF53D711}"/>
              </c:ext>
            </c:extLst>
          </c:dPt>
          <c:dPt>
            <c:idx val="1"/>
            <c:invertIfNegative val="1"/>
            <c:bubble3D val="0"/>
            <c:spPr>
              <a:solidFill>
                <a:srgbClr val="94A3B8"/>
              </a:solidFill>
            </c:spPr>
            <c:extLst>
              <c:ext xmlns:c16="http://schemas.microsoft.com/office/drawing/2014/chart" uri="{C3380CC4-5D6E-409C-BE32-E72D297353CC}">
                <c16:uniqueId val="{00000003-27ED-417A-A035-6629AF53D711}"/>
              </c:ext>
            </c:extLst>
          </c:dPt>
          <c:dPt>
            <c:idx val="2"/>
            <c:invertIfNegative val="1"/>
            <c:bubble3D val="0"/>
            <c:spPr>
              <a:solidFill>
                <a:srgbClr val="EC4899"/>
              </a:solidFill>
            </c:spPr>
            <c:extLst>
              <c:ext xmlns:c16="http://schemas.microsoft.com/office/drawing/2014/chart" uri="{C3380CC4-5D6E-409C-BE32-E72D297353CC}">
                <c16:uniqueId val="{00000005-27ED-417A-A035-6629AF53D711}"/>
              </c:ext>
            </c:extLst>
          </c:dPt>
          <c:dPt>
            <c:idx val="3"/>
            <c:invertIfNegative val="1"/>
            <c:bubble3D val="0"/>
            <c:spPr>
              <a:solidFill>
                <a:srgbClr val="EC4899"/>
              </a:solidFill>
            </c:spPr>
            <c:extLst>
              <c:ext xmlns:c16="http://schemas.microsoft.com/office/drawing/2014/chart" uri="{C3380CC4-5D6E-409C-BE32-E72D297353CC}">
                <c16:uniqueId val="{00000007-27ED-417A-A035-6629AF53D711}"/>
              </c:ext>
            </c:extLst>
          </c:dPt>
          <c:dPt>
            <c:idx val="4"/>
            <c:invertIfNegative val="1"/>
            <c:bubble3D val="0"/>
            <c:spPr>
              <a:solidFill>
                <a:srgbClr val="EC4899"/>
              </a:solidFill>
            </c:spPr>
            <c:extLst>
              <c:ext xmlns:c16="http://schemas.microsoft.com/office/drawing/2014/chart" uri="{C3380CC4-5D6E-409C-BE32-E72D297353CC}">
                <c16:uniqueId val="{00000009-27ED-417A-A035-6629AF53D711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11182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Raw photo</c:v>
                </c:pt>
                <c:pt idx="1">
                  <c:v>Warped only</c:v>
                </c:pt>
                <c:pt idx="2">
                  <c:v>Colour</c:v>
                </c:pt>
                <c:pt idx="3">
                  <c:v>Grayscale</c:v>
                </c:pt>
                <c:pt idx="4">
                  <c:v>B&amp;W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0.33400000000000002</c:v>
                </c:pt>
                <c:pt idx="1">
                  <c:v>0.13</c:v>
                </c:pt>
                <c:pt idx="2">
                  <c:v>4.8000000000000001E-2</c:v>
                </c:pt>
                <c:pt idx="3">
                  <c:v>4.2000000000000003E-2</c:v>
                </c:pt>
                <c:pt idx="4">
                  <c:v>3.3000000000000002E-2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7ED-417A-A035-6629AF53D7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82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11827"/>
                </a:solidFill>
                <a:latin typeface="Calibri"/>
              </a:rPr>
              <a:t>pytest test functions per module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11827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Input</c:v>
                </c:pt>
                <c:pt idx="1">
                  <c:v>Pipeline</c:v>
                </c:pt>
                <c:pt idx="2">
                  <c:v>OCR</c:v>
                </c:pt>
                <c:pt idx="3">
                  <c:v>Detection</c:v>
                </c:pt>
                <c:pt idx="4">
                  <c:v>Geometry</c:v>
                </c:pt>
                <c:pt idx="5">
                  <c:v>Enhancement</c:v>
                </c:pt>
                <c:pt idx="6">
                  <c:v>Text region</c:v>
                </c:pt>
                <c:pt idx="7">
                  <c:v>UI support</c:v>
                </c:pt>
                <c:pt idx="8">
                  <c:v>Deskew</c:v>
                </c:pt>
                <c:pt idx="9">
                  <c:v>Export</c:v>
                </c:pt>
                <c:pt idx="10">
                  <c:v>Evaluation</c:v>
                </c:pt>
                <c:pt idx="11">
                  <c:v>App smoke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</c:v>
                </c:pt>
                <c:pt idx="1">
                  <c:v>16</c:v>
                </c:pt>
                <c:pt idx="2">
                  <c:v>15</c:v>
                </c:pt>
                <c:pt idx="3">
                  <c:v>14</c:v>
                </c:pt>
                <c:pt idx="4">
                  <c:v>14</c:v>
                </c:pt>
                <c:pt idx="5">
                  <c:v>12</c:v>
                </c:pt>
                <c:pt idx="6">
                  <c:v>9</c:v>
                </c:pt>
                <c:pt idx="7">
                  <c:v>5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3B-4820-B3F6-A0D5C1982A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04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we take a phone photo of a paper page, find the page, flatten it, clean it up and read the text. No machine learning model is trained; it is classical computer vision plus the pretrained Tesseract OCR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raw photos fail at OCR: tilt, perspective, uneven light. The four stages are detect, geometry, enhance, OCR. The tests count is 116 test functions in the pytest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Detection runs on a down-scaled copy (about 800 px) for speed; the warp runs on the original full-resolution image. All modules agree on one contract in backend/contracts.py.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member owns specific modules, their tests and one evaluation tool (the member_split folders mirror this). The shared contract file backend/contracts.py and the test helpers are owned jointly. Replace 'Member N' with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real run of our pipeline on a synthetic photo (wood background, page tilted about 14 degrees). Each panel is produced by a different member's module, so this slide is the hand-off between speakers. Images are generated by running backend code directly; the warp uses the detected corners.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 score = 0.30 fill + 0.20 angle + 0.20 size + 0.30 edge support. It is a heuristic, not a probability. Known limit: white paper on a white desk. Numbers are from the synthetic set, which is easier than real photos.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four strategies run on every photo; each produces a mask, contours become 4-point candidates, and the scoring formula picks the winner. Every strategy wins on some photos, which justifies running all four. Counts are from detection_metrics on the 30 synthetic photos.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homography is a 3x3 matrix fixed by four point pairs. The corner order TL,TR,BR,BL matters; a wrong order mirrors the page. The reliability script ran 30 synthetic photos with 30 successes; this does not include real or corrupt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Left: cluttered synthetic photo with the four ordered corners. Right: result of cv2.getPerspectiveTransform + warpPerspective on the full-resolution original. The error policy means the UI always gets a result object, never a traceback.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risk: removing shadows can fade big headings or leave halos. Thresholding throws information away, which is why colour and grey are always kept. The ablation table of each step on/off against OCR error is still to be produced with real photos.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darkened one side of a synthetic photo to simulate a shadow. Illumination normalisation estimates the paper background and divides it out. Background unevenness is the standard deviation of paper pixels, averaged over the 30 synthetic photos by enhancement_metrics. Lower is flatter.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OCR is injectable, so tests run with a fake engine. CER = edit distance / reference length on characters. We choose the OCR input variant by measuring, not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CER = character edit distance divided by reference length; 0 is perfect. Median over the synthetic images where OCR returned text (14 for the raw photo, 22-24 for the others, out of 30). Medians are used because a few rotated reads give CER near 1 and skew the mean. Correcting geometry is the biggest gain; enhancement roughly halves the remaining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prove the code behaves as designed; evaluation measures how well it works on images. 116 test functions 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upfront: synthetic images are easy. In pipeline.py, after expand_quad_to_text, the code unions the quad with the axis-aligned text box and uses that rectangle whenever it is 2% larger, which is true for almost any tilted page. Detection itself is correct (IoU 0.995); the crop is what goes wrong. Fix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limitations are documented in the module docstrings.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Relationship Id="rId4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Scanner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Image Enhancement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From a tilted phone photo to a flat, readable scan and extracted text, using classical computer vision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OpenCV  ·  Tesseract  ·  Streamlit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480000">
            <a:off x="6766560" y="914400"/>
            <a:ext cx="1737360" cy="2377440"/>
          </a:xfrm>
          <a:prstGeom prst="rect">
            <a:avLst/>
          </a:prstGeom>
          <a:solidFill>
            <a:srgbClr val="F8FAFC"/>
          </a:solidFill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rot="480000">
            <a:off x="7086600" y="1325880"/>
            <a:ext cx="1051560" cy="6400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 rot="480000">
            <a:off x="7123176" y="1627632"/>
            <a:ext cx="868680" cy="6400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 rot="480000">
            <a:off x="7159752" y="1929384"/>
            <a:ext cx="685800" cy="6400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rot="480000">
            <a:off x="7196328" y="2231136"/>
            <a:ext cx="1051560" cy="6400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rot="480000">
            <a:off x="7232904" y="2532888"/>
            <a:ext cx="868680" cy="6400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rot="480000">
            <a:off x="7269480" y="2834640"/>
            <a:ext cx="685800" cy="6400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solve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photos of paper are tilted, shadowed and cluttered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makes a rectangular page look like a trapezoid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on the raw photo gives poor text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one pipeline that outputs the page outline, a flat scan, cleaned images and text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188720"/>
            <a:ext cx="3657600" cy="310896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303520" y="1280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2029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pipeline stages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280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20299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2651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ML models trained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651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automated tests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pipeline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261872" cy="1737360"/>
          </a:xfrm>
          <a:prstGeom prst="roundRect">
            <a:avLst>
              <a:gd name="adj" fmla="val 7246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validate, EXIF fix, working copy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73352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75569"/>
                </a:solidFill>
              </a:rPr>
              <a:t>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47088" y="1371600"/>
            <a:ext cx="1261872" cy="1737360"/>
          </a:xfrm>
          <a:prstGeom prst="roundRect">
            <a:avLst>
              <a:gd name="adj" fmla="val 7246"/>
            </a:avLst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847088" y="14630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938528" y="196596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find page, 4 corners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75569"/>
                </a:solidFill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36976" y="1371600"/>
            <a:ext cx="1261872" cy="1737360"/>
          </a:xfrm>
          <a:prstGeom prst="roundRect">
            <a:avLst>
              <a:gd name="adj" fmla="val 7246"/>
            </a:avLst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236976" y="14630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Warp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328416" y="196596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homography to flat page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53128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75569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26864" y="1371600"/>
            <a:ext cx="1261872" cy="1737360"/>
          </a:xfrm>
          <a:prstGeom prst="roundRect">
            <a:avLst>
              <a:gd name="adj" fmla="val 7246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626864" y="14630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718304" y="196596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shadows, denoise, B&amp;W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843016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75569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016752" y="1371600"/>
            <a:ext cx="1261872" cy="1737360"/>
          </a:xfrm>
          <a:prstGeom prst="roundRect">
            <a:avLst>
              <a:gd name="adj" fmla="val 7246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016752" y="14630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108192" y="196596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Tesseract text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232904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75569"/>
                </a:solidFill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406640" y="1371600"/>
            <a:ext cx="1261872" cy="1737360"/>
          </a:xfrm>
          <a:prstGeom prst="roundRect">
            <a:avLst>
              <a:gd name="adj" fmla="val 7246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406640" y="146304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1965960"/>
            <a:ext cx="1078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Streamlit, PNG/PDF/TXT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Box colour = owner (teal M1, indigo M2, amber M3, pink M4)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40080" y="37033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Shared contract: </a:t>
            </a:r>
            <a:r>
              <a:rPr lang="en-US" sz="1300" dirty="0">
                <a:solidFill>
                  <a:srgbClr val="111827"/>
                </a:solidFill>
              </a:rPr>
              <a:t>images are BGR uint8; corners are float32 (4,2) ordered TL, TR, BR, BL in original-image pixels; expected failures are a structured ScannerError, so the pipeline never crashes silently.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and work division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rgbClr val="0EA5A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53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64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</a:rPr>
              <a:t>Where is the page?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39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detection.py, text_region.py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Eval: detection_metrics, annotate_corners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84048" cy="384048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8463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3533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&amp; Pipeline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647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</a:rPr>
              <a:t>Flatten it, never crash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0939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input_handler, geometry, pipeline, deskew, orientation_search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Eval: synthetic, reliability, debug_run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136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Enhancement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47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</a:rPr>
              <a:t>Make it readable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8770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enhancement.py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Eval: enhancement_metrics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846320" y="3154680"/>
            <a:ext cx="384048" cy="384048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84632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3136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&amp; Application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547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</a:rPr>
              <a:t>Read it, deliver it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8770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ocr, export, ui_support, app.py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Eval: ocr_metrics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11827"/>
                </a:solidFill>
                <a:latin typeface="Cambria"/>
              </a:rPr>
              <a:t>One photo, end to 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188720"/>
            <a:ext cx="1828800" cy="34290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4360" y="1325880"/>
            <a:ext cx="329184" cy="329184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13258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130759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Cambria"/>
              </a:rPr>
              <a:t>Detect</a:t>
            </a:r>
          </a:p>
        </p:txBody>
      </p:sp>
      <p:pic>
        <p:nvPicPr>
          <p:cNvPr id="31" name="Picture 30" descr="img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66010"/>
            <a:ext cx="1554480" cy="116586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594360" y="420624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</a:rPr>
              <a:t>4 corners found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322576" y="2834640"/>
            <a:ext cx="2286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587752" y="1188720"/>
            <a:ext cx="1828800" cy="34290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724912" y="1325880"/>
            <a:ext cx="329184" cy="32918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24912" y="13258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36392" y="130759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Cambria"/>
              </a:rPr>
              <a:t>Warp</a:t>
            </a:r>
          </a:p>
        </p:txBody>
      </p:sp>
      <p:pic>
        <p:nvPicPr>
          <p:cNvPr id="38" name="Picture 37" descr="img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1856372"/>
            <a:ext cx="1554480" cy="2185135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2724912" y="420624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</a:rPr>
              <a:t>flat, upright page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4453128" y="2834640"/>
            <a:ext cx="2286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718304" y="1188720"/>
            <a:ext cx="1828800" cy="34290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855464" y="1325880"/>
            <a:ext cx="329184" cy="32918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55464" y="13258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66944" y="130759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Cambria"/>
              </a:rPr>
              <a:t>Enhance</a:t>
            </a:r>
          </a:p>
        </p:txBody>
      </p:sp>
      <p:pic>
        <p:nvPicPr>
          <p:cNvPr id="45" name="Picture 44" descr="img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4" y="1856372"/>
            <a:ext cx="1554480" cy="2185135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46" name="TextBox 45"/>
          <p:cNvSpPr txBox="1"/>
          <p:nvPr/>
        </p:nvSpPr>
        <p:spPr>
          <a:xfrm>
            <a:off x="4855464" y="420624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</a:rPr>
              <a:t>black &amp; white output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583680" y="2834640"/>
            <a:ext cx="2286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848856" y="1188720"/>
            <a:ext cx="1828800" cy="342900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986016" y="1325880"/>
            <a:ext cx="329184" cy="329184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86016" y="13258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97496" y="1307592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11827"/>
                </a:solidFill>
                <a:latin typeface="Cambria"/>
              </a:rPr>
              <a:t>OCR</a:t>
            </a:r>
          </a:p>
        </p:txBody>
      </p:sp>
      <p:pic>
        <p:nvPicPr>
          <p:cNvPr id="52" name="Picture 51" descr="img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016" y="1856372"/>
            <a:ext cx="1554480" cy="2185135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53" name="TextBox 52"/>
          <p:cNvSpPr txBox="1"/>
          <p:nvPr/>
        </p:nvSpPr>
        <p:spPr>
          <a:xfrm>
            <a:off x="6986016" y="420624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</a:rPr>
              <a:t>words + confidence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681728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</a:rPr>
              <a:t>Synthetic test photo from evaluation/synthetic.py · OCR read every line, mean word confidence 94.5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EA5A4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</a:rPr>
              <a:t>“Given any reasonable photo, where is the page?”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strategies: Canny, sensitive Canny, Otsu threshold, HSV paper mask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outline reduced to a 4-point polygon, then scored on fill, angles, size and edge support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frame-like regions; reports weak or ambiguous results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Text-aware step stops the crop from cutting text off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60020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98932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30/30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4871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pages found on the synthetic set (IoU ≥ 0.90)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0.995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mean IoU against exact ground truth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r>
              <a:t>7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2004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11827"/>
                </a:solidFill>
                <a:latin typeface="Cambria"/>
              </a:rPr>
              <a:t>Detection: four strategies, one winner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475569"/>
                </a:solidFill>
              </a:rPr>
              <a:t>Each strategy makes a mask; every 4-sided candidate is scored</a:t>
            </a:r>
          </a:p>
        </p:txBody>
      </p:sp>
      <p:pic>
        <p:nvPicPr>
          <p:cNvPr id="30" name="Picture 29" descr="img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00200"/>
            <a:ext cx="1584959" cy="11887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457200" y="28163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</a:rPr>
              <a:t>Canny</a:t>
            </a:r>
          </a:p>
        </p:txBody>
      </p:sp>
      <p:pic>
        <p:nvPicPr>
          <p:cNvPr id="32" name="Picture 31" descr="img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720" y="1600200"/>
            <a:ext cx="1584959" cy="11887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2788920" y="281635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</a:rPr>
              <a:t>Sensitive Canny</a:t>
            </a:r>
          </a:p>
        </p:txBody>
      </p:sp>
      <p:pic>
        <p:nvPicPr>
          <p:cNvPr id="34" name="Picture 33" descr="img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136391"/>
            <a:ext cx="1584959" cy="11887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457200" y="435254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</a:rPr>
              <a:t>Otsu threshold</a:t>
            </a:r>
          </a:p>
        </p:txBody>
      </p:sp>
      <p:pic>
        <p:nvPicPr>
          <p:cNvPr id="36" name="Picture 35" descr="img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3720" y="3136391"/>
            <a:ext cx="1584959" cy="11887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2788920" y="435254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</a:rPr>
              <a:t>HSV paper mask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49240" y="1600200"/>
            <a:ext cx="333756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32120" y="16916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</a:rPr>
              <a:t>Quality score (heuristic)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201168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11827"/>
                </a:solidFill>
              </a:rPr>
              <a:t>0.30</a:t>
            </a:r>
            <a:r>
              <a:rPr sz="1400" b="0" i="0">
                <a:solidFill>
                  <a:srgbClr val="111827"/>
                </a:solidFill>
              </a:rPr>
              <a:t> fill  +  </a:t>
            </a:r>
            <a:r>
              <a:rPr sz="1400" b="1" i="0">
                <a:solidFill>
                  <a:srgbClr val="111827"/>
                </a:solidFill>
              </a:rPr>
              <a:t>0.20</a:t>
            </a:r>
            <a:r>
              <a:rPr sz="1400" b="0" i="0">
                <a:solidFill>
                  <a:srgbClr val="111827"/>
                </a:solidFill>
              </a:rPr>
              <a:t> angles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111827"/>
                </a:solidFill>
              </a:rPr>
              <a:t>+ </a:t>
            </a:r>
            <a:r>
              <a:rPr sz="1400" b="1" i="0">
                <a:solidFill>
                  <a:srgbClr val="111827"/>
                </a:solidFill>
              </a:rPr>
              <a:t>0.20</a:t>
            </a:r>
            <a:r>
              <a:rPr sz="1400" b="0" i="0">
                <a:solidFill>
                  <a:srgbClr val="111827"/>
                </a:solidFill>
              </a:rPr>
              <a:t> size  +  </a:t>
            </a:r>
            <a:r>
              <a:rPr sz="1400" b="1" i="0">
                <a:solidFill>
                  <a:srgbClr val="111827"/>
                </a:solidFill>
              </a:rPr>
              <a:t>0.30</a:t>
            </a:r>
            <a:r>
              <a:rPr sz="1400" b="0" i="0">
                <a:solidFill>
                  <a:srgbClr val="111827"/>
                </a:solidFill>
              </a:rPr>
              <a:t> edge support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2971800"/>
            <a:ext cx="3337560" cy="1645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32120" y="30632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</a:rPr>
              <a:t>Winning strategy, 30 photos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32120" y="3429000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</a:rPr>
              <a:t>Sensitive Canny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03720" y="3465576"/>
            <a:ext cx="1371600" cy="16459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21040" y="3429000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2120" y="3712463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</a:rPr>
              <a:t>Canny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03720" y="3749039"/>
            <a:ext cx="1122218" cy="16459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71658" y="3712463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32120" y="3995928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</a:rPr>
              <a:t>HSV paper mask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03720" y="4032504"/>
            <a:ext cx="748145" cy="16459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697585" y="3995928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2120" y="4279392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75569"/>
                </a:solidFill>
              </a:rPr>
              <a:t>Otsu threshold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03720" y="4315968"/>
            <a:ext cx="498763" cy="16459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48203" y="4279392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11827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7635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82031"/>
                </a:solidFill>
                <a:latin typeface="Cambria"/>
              </a:rPr>
              <a:t>Text-aware crop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1">
                <a:solidFill>
                  <a:srgbClr val="465873"/>
                </a:solidFill>
                <a:latin typeface="Calibri"/>
              </a:rPr>
              <a:t>Keep important text inside the final 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659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39776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0AA6A6"/>
                </a:solidFill>
                <a:latin typeface="Calibri"/>
              </a:rPr>
              <a:t>HOW THE MODULE WORKS</a:t>
            </a:r>
          </a:p>
        </p:txBody>
      </p:sp>
      <p:sp>
        <p:nvSpPr>
          <p:cNvPr id="7" name="Oval 6"/>
          <p:cNvSpPr/>
          <p:nvPr/>
        </p:nvSpPr>
        <p:spPr>
          <a:xfrm>
            <a:off x="530352" y="1929384"/>
            <a:ext cx="310896" cy="310896"/>
          </a:xfrm>
          <a:prstGeom prst="ellipse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56231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031"/>
                </a:solidFill>
                <a:latin typeface="Calibri"/>
              </a:rPr>
              <a:t>Find text-like 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121408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465873"/>
                </a:solidFill>
                <a:latin typeface="Calibri"/>
              </a:rPr>
              <a:t>Use local background contrast to separate dark ink-like pixels from the paper.</a:t>
            </a:r>
          </a:p>
        </p:txBody>
      </p:sp>
      <p:sp>
        <p:nvSpPr>
          <p:cNvPr id="10" name="Oval 9"/>
          <p:cNvSpPr/>
          <p:nvPr/>
        </p:nvSpPr>
        <p:spPr>
          <a:xfrm>
            <a:off x="530352" y="2679191"/>
            <a:ext cx="310896" cy="310896"/>
          </a:xfrm>
          <a:prstGeom prst="ellipse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14600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031"/>
                </a:solidFill>
                <a:latin typeface="Calibri"/>
              </a:rPr>
              <a:t>Group nearby 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79776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465873"/>
                </a:solidFill>
                <a:latin typeface="Calibri"/>
              </a:rPr>
              <a:t>Connect close components into text blocks instead of treating every letter fragment separately.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3428999"/>
            <a:ext cx="310896" cy="310896"/>
          </a:xfrm>
          <a:prstGeom prst="ellipse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172968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031"/>
                </a:solidFill>
                <a:latin typeface="Calibri"/>
              </a:rPr>
              <a:t>Check the page edges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438144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465873"/>
                </a:solidFill>
                <a:latin typeface="Calibri"/>
              </a:rPr>
              <a:t>Measure whether nearby text extends beyond the detected quadrilateral.</a:t>
            </a:r>
          </a:p>
        </p:txBody>
      </p:sp>
      <p:sp>
        <p:nvSpPr>
          <p:cNvPr id="16" name="Oval 15"/>
          <p:cNvSpPr/>
          <p:nvPr/>
        </p:nvSpPr>
        <p:spPr>
          <a:xfrm>
            <a:off x="530352" y="4178808"/>
            <a:ext cx="310896" cy="310896"/>
          </a:xfrm>
          <a:prstGeom prst="ellipse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831336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82031"/>
                </a:solidFill>
                <a:latin typeface="Calibri"/>
              </a:rPr>
              <a:t>Expand only when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096512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465873"/>
                </a:solidFill>
                <a:latin typeface="Calibri"/>
              </a:rPr>
              <a:t>Move the relevant sides outward with a small safety margin to reduce text clipping.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1627632"/>
            <a:ext cx="3913632" cy="3127248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856231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82031"/>
                </a:solidFill>
                <a:latin typeface="Calibri"/>
              </a:rPr>
              <a:t>WHY THIS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212848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82031"/>
                </a:solidFill>
                <a:latin typeface="Calibri"/>
              </a:rPr>
              <a:t>A boundary that is slightly too tight can cut off words near the edge of a page. Text-aware protection reduces that risk.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03580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82031"/>
                </a:solidFill>
                <a:latin typeface="Calibri"/>
              </a:rPr>
              <a:t>IMPORTANT LIMITS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383280"/>
            <a:ext cx="333756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465873"/>
                </a:solidFill>
                <a:latin typeface="Calibri"/>
              </a:rPr>
              <a:t>• This is text-region detection, not OCR: it locates text-like marks but does not read the words.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465873"/>
                </a:solidFill>
                <a:latin typeface="Calibri"/>
              </a:rPr>
              <a:t>• Distant text is ignored using a proximity check.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465873"/>
                </a:solidFill>
                <a:latin typeface="Calibri"/>
              </a:rPr>
              <a:t>• Known issue: a downstream axis-aligned bounding-box step can keep extra background on tilted pages; this is listed for future improvement.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45152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465873"/>
                </a:solidFill>
                <a:latin typeface="Calibri"/>
              </a:rPr>
              <a:t>Main file: backend/text_region.py  |  Key functions: find_text_blocks(), expand_quad_to_text(), text_region_quad()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0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2608"/>
            <a:ext cx="7635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 i="0">
                <a:solidFill>
                  <a:srgbClr val="182031"/>
                </a:solidFill>
                <a:latin typeface="Cambria"/>
              </a:rPr>
              <a:t>Text-aware crop: validation &amp; safeguards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1">
                <a:solidFill>
                  <a:srgbClr val="465873"/>
                </a:solidFill>
                <a:latin typeface="Calibri"/>
              </a:rPr>
              <a:t>Automated checks and corner-ground-truth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473659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27632"/>
            <a:ext cx="3840480" cy="292608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1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AA6A6"/>
                </a:solidFill>
                <a:latin typeface="Calibri"/>
              </a:rPr>
              <a:t>WHAT IS TESTED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182031"/>
                </a:solidFill>
                <a:latin typeface="Calibri"/>
              </a:rPr>
              <a:t>• Detection tests: corner ordering, successful detection, failure handling and coordinate scaling
• Text-region tests: text-block detection, safe boundary expansion and fallback behaviour
• Ground-truth tool: manually mark the four page corners for objective comparison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4572000" y="1627632"/>
            <a:ext cx="4050791" cy="2926080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856231"/>
            <a:ext cx="3474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AA6A6"/>
                </a:solidFill>
                <a:latin typeface="Calibri"/>
              </a:rPr>
              <a:t>DETECTION RESULTS · SYNTHETIC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2267712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182031"/>
                </a:solidFill>
                <a:latin typeface="Cambria"/>
              </a:rPr>
              <a:t>30/30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465873"/>
                </a:solidFill>
                <a:latin typeface="Calibri"/>
              </a:rPr>
              <a:t>images met IoU ≥ 0.90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2907791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182031"/>
                </a:solidFill>
                <a:latin typeface="Cambria"/>
              </a:rPr>
              <a:t>0.995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971799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465873"/>
                </a:solidFill>
                <a:latin typeface="Calibri"/>
              </a:rPr>
              <a:t>mean IoU vs. ground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3547872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182031"/>
                </a:solidFill>
                <a:latin typeface="Cambria"/>
              </a:rPr>
              <a:t>0.075%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611879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465873"/>
                </a:solidFill>
                <a:latin typeface="Calibri"/>
              </a:rPr>
              <a:t>mean corner error / image diagonal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681728"/>
            <a:ext cx="8001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 i="0">
                <a:solidFill>
                  <a:srgbClr val="465873"/>
                </a:solidFill>
                <a:latin typeface="Calibri"/>
              </a:rPr>
              <a:t>IoU measures overlap with the true page; normalised corner error measures corner-position accuracy. Synthetic results validate this test set, not every real-world photo.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&amp; Pipeline Core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</a:rPr>
              <a:t>Flatten the page and never crash silently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validation: size, decodability, EXIF orientation, scaled working copy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Homography from 4 corners; output size from the longer opposite sides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Text-line deskew and orientation search for rotated pages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controller with structured errors; synthetic ground-truth generator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60020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98932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30/30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4871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files processed without a crash or failure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 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mean time per file (no OCR)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r>
              <a:t>11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2004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11827"/>
                </a:solidFill>
                <a:latin typeface="Cambria"/>
              </a:rPr>
              <a:t>Geometry: from trapezoid to rectangle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475569"/>
                </a:solidFill>
              </a:rPr>
              <a:t>Four point pairs fix the 3×3 homography; warp runs at full resolution</a:t>
            </a:r>
          </a:p>
        </p:txBody>
      </p:sp>
      <p:pic>
        <p:nvPicPr>
          <p:cNvPr id="30" name="Picture 29" descr="img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25930"/>
            <a:ext cx="2834640" cy="212598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31" name="Right Arrow 30"/>
          <p:cNvSpPr/>
          <p:nvPr/>
        </p:nvSpPr>
        <p:spPr>
          <a:xfrm>
            <a:off x="3383280" y="2651760"/>
            <a:ext cx="320040" cy="32004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g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020" y="1600200"/>
            <a:ext cx="1694558" cy="23774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457200" y="406908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</a:rPr>
              <a:t>Corners ordered TL → TR → BR → BL; output size uses the longer of each pair of opposite sides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1600200"/>
            <a:ext cx="2834640" cy="30175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0" y="171907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</a:rPr>
              <a:t>Never crash silently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103120"/>
            <a:ext cx="251460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 algn="l">
              <a:spcAft>
                <a:spcPts val="500"/>
              </a:spcAft>
              <a:buChar char="•"/>
            </a:pPr>
            <a:r>
              <a:rPr sz="1200" b="0" i="0">
                <a:solidFill>
                  <a:srgbClr val="111827"/>
                </a:solidFill>
              </a:rPr>
              <a:t>Bad file, wrong format or too small → clear message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200" b="0" i="0">
                <a:solidFill>
                  <a:srgbClr val="111827"/>
                </a:solidFill>
              </a:rPr>
              <a:t>Expected failures → ScannerError (stage, code, message, hint)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200" b="0" i="0">
                <a:solidFill>
                  <a:srgbClr val="111827"/>
                </a:solidFill>
              </a:rPr>
              <a:t>Detection fails → manual corner sliders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200" b="0" i="0">
                <a:solidFill>
                  <a:srgbClr val="111827"/>
                </a:solidFill>
              </a:rPr>
              <a:t>OCR failure keeps the scan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200" b="0" i="0">
                <a:solidFill>
                  <a:srgbClr val="111827"/>
                </a:solidFill>
              </a:rPr>
              <a:t>Rotated pages: text-line deskew, then Tesseract OSD for 90/180/270°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Enhancement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</a:rPr>
              <a:t>Readability under bad lighting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Illumination normalisation: estimate paper background, divide it out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Denoising, then CLAHE only when text/paper contrast is weak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outputs: colour, grayscale (best for OCR), black &amp; white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threshold; blur, low-contrast and low-resolution warnings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60020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98932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4871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named output variants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enhancement unit tests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r>
              <a:t>13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2004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11827"/>
                </a:solidFill>
                <a:latin typeface="Cambria"/>
              </a:rPr>
              <a:t>Enhancement: removing a shadow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475569"/>
                </a:solidFill>
              </a:rPr>
              <a:t>Synthetic photo with a dark gradient added across the page</a:t>
            </a:r>
          </a:p>
        </p:txBody>
      </p:sp>
      <p:pic>
        <p:nvPicPr>
          <p:cNvPr id="30" name="Picture 29" descr="img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37574"/>
            <a:ext cx="1389888" cy="174841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457200" y="379476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</a:rPr>
              <a:t>Flattened input</a:t>
            </a:r>
          </a:p>
        </p:txBody>
      </p:sp>
      <p:pic>
        <p:nvPicPr>
          <p:cNvPr id="32" name="Picture 31" descr="img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1937574"/>
            <a:ext cx="1389888" cy="174841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1920240" y="379476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</a:rPr>
              <a:t>Colour</a:t>
            </a:r>
          </a:p>
        </p:txBody>
      </p:sp>
      <p:pic>
        <p:nvPicPr>
          <p:cNvPr id="34" name="Picture 33" descr="img1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937574"/>
            <a:ext cx="1389888" cy="174841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35" name="TextBox 34"/>
          <p:cNvSpPr txBox="1"/>
          <p:nvPr/>
        </p:nvSpPr>
        <p:spPr>
          <a:xfrm>
            <a:off x="3383280" y="379476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</a:rPr>
              <a:t>Grayscale</a:t>
            </a:r>
          </a:p>
        </p:txBody>
      </p:sp>
      <p:pic>
        <p:nvPicPr>
          <p:cNvPr id="36" name="Picture 35" descr="img1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937574"/>
            <a:ext cx="1389888" cy="174841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4846320" y="379476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</a:rPr>
              <a:t>Black &amp; white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1554480"/>
            <a:ext cx="2240280" cy="30632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29400" y="1691640"/>
            <a:ext cx="1920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11827"/>
                </a:solidFill>
                <a:latin typeface="Cambria"/>
              </a:rPr>
              <a:t>38.9</a:t>
            </a:r>
            <a:r>
              <a:rPr sz="2000" b="1" i="0">
                <a:solidFill>
                  <a:srgbClr val="F59E0B"/>
                </a:solidFill>
                <a:latin typeface="Cambria"/>
              </a:rPr>
              <a:t>  →  10.8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237744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</a:rPr>
              <a:t>background unevenness, raw → grayscale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3063240"/>
            <a:ext cx="1920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11827"/>
                </a:solidFill>
                <a:latin typeface="Cambria"/>
              </a:rPr>
              <a:t>125</a:t>
            </a:r>
            <a:r>
              <a:rPr sz="2000" b="1" i="0">
                <a:solidFill>
                  <a:srgbClr val="F59E0B"/>
                </a:solidFill>
                <a:latin typeface="Cambria"/>
              </a:rPr>
              <a:t>  →  140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3749039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75569"/>
                </a:solidFill>
              </a:rPr>
              <a:t>ink/paper contrast (mean of 30 photos)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&amp; Application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</a:rPr>
              <a:t>Trustworthy text, delivered in a usable app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via pytesseract; text rescaled to ~24 px letters before reading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Per-word confidences; doubtful words shown in red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UI: upload, settings, manual corner sliders, diagnostics tab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PNG, TXT and multi-page PDF (up to 10 pages)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600200"/>
            <a:ext cx="2926080" cy="29260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98932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4871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OCR unit tests (fake engine, no Tesseract needed)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89320" y="30175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37673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export formats: PNG, PDF, TXT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r>
              <a:t>15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20040"/>
            <a:ext cx="75895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11827"/>
                </a:solidFill>
                <a:latin typeface="Cambria"/>
              </a:rPr>
              <a:t>OCR: what each stage buys 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475569"/>
                </a:solidFill>
              </a:rPr>
              <a:t>Median character error rate (CER) by image given to Tesseract</a:t>
            </a:r>
          </a:p>
        </p:txBody>
      </p:sp>
      <p:pic>
        <p:nvPicPr>
          <p:cNvPr id="30" name="Picture 29" descr="img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43363"/>
            <a:ext cx="2377440" cy="2085473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</a:rPr>
              <a:t>Green = confident word, red = doubtful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3108960" y="1508760"/>
          <a:ext cx="557784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evaluation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9728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188720"/>
            <a:ext cx="2926080" cy="338328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594360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tools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737360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IoU and corner error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OCR: CER and WER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Enhancement: contrast, sharpness, uniformity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crashes per stage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so far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663440" y="11887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8580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299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detection success, 30 synthetic photos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0.075%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0299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mean corner error / image diagonal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113/116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0299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tests passing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30/30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0299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pipeline runs without failure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0080" y="33375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Honest caveats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Results use clean synthetic images, so they validate the code, not real-world accuracy. Three tests fail. Root cause of two: the text-aware safety step replaces the tilted page outline with an upright bounding box, so background is kept; disabling it makes 115/116 pass. The third is an OCR word-box mapping test.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paper on a light desk can defeat detection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filling the whole frame is rejected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Curled or folded pages are not four-sided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each enhancement step against OCR error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bounding-box crop in the text-aware step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processing; better handling of hard-edged shadows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59E0B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Detection  ·  Geometry &amp; Pipeline  ·  Enhancement  ·  OCR &amp; 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anner">
  <a:themeElements>
    <a:clrScheme name="Scanner">
      <a:dk1>
        <a:srgbClr val="111827"/>
      </a:dk1>
      <a:lt1>
        <a:srgbClr val="FFFFFF"/>
      </a:lt1>
      <a:dk2>
        <a:srgbClr val="475569"/>
      </a:dk2>
      <a:lt2>
        <a:srgbClr val="F8FAFC"/>
      </a:lt2>
      <a:accent1>
        <a:srgbClr val="0EA5A4"/>
      </a:accent1>
      <a:accent2>
        <a:srgbClr val="6366F1"/>
      </a:accent2>
      <a:accent3>
        <a:srgbClr val="F59E0B"/>
      </a:accent3>
      <a:accent4>
        <a:srgbClr val="EC4899"/>
      </a:accent4>
      <a:accent5>
        <a:srgbClr val="22C55E"/>
      </a:accent5>
      <a:accent6>
        <a:srgbClr val="EF4444"/>
      </a:accent6>
      <a:hlink>
        <a:srgbClr val="6366F1"/>
      </a:hlink>
      <a:folHlink>
        <a:srgbClr val="475569"/>
      </a:folHlink>
    </a:clrScheme>
    <a:fontScheme name="Scann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1815</Words>
  <Application>Microsoft Office PowerPoint</Application>
  <PresentationFormat>On-screen Show (16:9)</PresentationFormat>
  <Paragraphs>233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Scanner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Scanner &amp; Image Enhancement</dc:title>
  <dc:subject>PptxGenJS Presentation</dc:subject>
  <dc:creator>PptxGenJS</dc:creator>
  <cp:lastModifiedBy>vishaka meena</cp:lastModifiedBy>
  <cp:revision>2</cp:revision>
  <dcterms:created xsi:type="dcterms:W3CDTF">2026-10-28T14:21:35Z</dcterms:created>
  <dcterms:modified xsi:type="dcterms:W3CDTF">2026-10-29T00:32:55Z</dcterms:modified>
</cp:coreProperties>
</file>